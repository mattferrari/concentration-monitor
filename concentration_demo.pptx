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Sheet1!$A$2:$A$5</c:f>
              <c:strCache>
                <c:ptCount val="4"/>
                <c:pt idx="0">
                  <c:v>Gaze Dev.</c:v>
                </c:pt>
                <c:pt idx="1">
                  <c:v>Head Yaw</c:v>
                </c:pt>
                <c:pt idx="2">
                  <c:v>Eye EAR</c:v>
                </c:pt>
                <c:pt idx="3">
                  <c:v>Blink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0E0E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0E0E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>
                <a:solidFill>
                  <a:srgbClr val="0D2137"/>
                </a:solidFill>
              </a:defRPr>
            </a:pPr>
            <a:r>
              <a:t>Score over time (0–10)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Concentration Score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12:30:34</c:v>
                </c:pt>
                <c:pt idx="1">
                  <c:v>12:30:44</c:v>
                </c:pt>
                <c:pt idx="2">
                  <c:v>12:30:54</c:v>
                </c:pt>
                <c:pt idx="3">
                  <c:v>12:31:04</c:v>
                </c:pt>
                <c:pt idx="4">
                  <c:v>12:31:14</c:v>
                </c:pt>
                <c:pt idx="5">
                  <c:v>12:31:25</c:v>
                </c:pt>
                <c:pt idx="6">
                  <c:v>12:31:35</c:v>
                </c:pt>
                <c:pt idx="7">
                  <c:v>12:31:45</c:v>
                </c:pt>
                <c:pt idx="8">
                  <c:v>12:31:55</c:v>
                </c:pt>
                <c:pt idx="9">
                  <c:v>12:32:05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6.5</c:v>
                </c:pt>
                <c:pt idx="1">
                  <c:v>9.0</c:v>
                </c:pt>
                <c:pt idx="2">
                  <c:v>8.0</c:v>
                </c:pt>
                <c:pt idx="3">
                  <c:v>6.5</c:v>
                </c:pt>
                <c:pt idx="4">
                  <c:v>9.0</c:v>
                </c:pt>
                <c:pt idx="5">
                  <c:v>6.5</c:v>
                </c:pt>
                <c:pt idx="6">
                  <c:v>9.0</c:v>
                </c:pt>
                <c:pt idx="7">
                  <c:v>6.5</c:v>
                </c:pt>
                <c:pt idx="8">
                  <c:v>6.49</c:v>
                </c:pt>
                <c:pt idx="9">
                  <c:v>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01568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400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6400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0743" y="6400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11095" y="6400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41448" y="6400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1280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1280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0743" y="1280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11095" y="1280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1448" y="1280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040" y="19202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" y="19202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80743" y="19202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11095" y="19202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41448" y="19202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0040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0743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11095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41448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0040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3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11095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41448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0040" y="38404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0392" y="38404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80743" y="38404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11095" y="38404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41448" y="38404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" y="3337560"/>
            <a:ext cx="1828800" cy="86868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63040" y="3456432"/>
            <a:ext cx="512064" cy="51206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581912" y="3566160"/>
            <a:ext cx="274320" cy="27432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117043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176479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2C39A"/>
                </a:solidFill>
                <a:latin typeface="Calibri"/>
              </a:rPr>
              <a:t>MONITOR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2441448"/>
            <a:ext cx="41148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E0EF"/>
                </a:solidFill>
                <a:latin typeface="Calibri"/>
              </a:rPr>
              <a:t>Real-Time AI Attention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2999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477"/>
                </a:solidFill>
                <a:latin typeface="Calibri"/>
              </a:rPr>
              <a:t>Raspberry Pi 5  ·  Coral TPU  ·  MediaPipe Face Landmarker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703320"/>
            <a:ext cx="107899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371246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OpenCV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56048" y="3703320"/>
            <a:ext cx="107899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56048" y="371246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3056" y="3703320"/>
            <a:ext cx="107899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3056" y="371246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MediaPipe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0063" y="3703320"/>
            <a:ext cx="107899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0063" y="371246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Edge 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39" y="4892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Demo Presentation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128016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28090"/>
                </a:solidFill>
                <a:latin typeface="Calibri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6477"/>
                </a:solidFill>
                <a:latin typeface="Calibri"/>
              </a:rPr>
              <a:t>of workers report
distraction as their
biggest productivity
challenge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9601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960120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28090"/>
                </a:solidFill>
                <a:latin typeface="Calibri"/>
              </a:rPr>
              <a:t>2.1×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6477"/>
                </a:solidFill>
                <a:latin typeface="Calibri"/>
              </a:rPr>
              <a:t>lower output when
attention is fragmented
vs. deep focus states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9601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71616" y="960120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28090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6477"/>
                </a:solidFill>
                <a:latin typeface="Calibri"/>
              </a:rPr>
              <a:t>objective tools
available at the edge
for real-time feedback
without the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D2137"/>
                </a:solidFill>
                <a:latin typeface="Calibri"/>
              </a:rPr>
              <a:t>Educators and professionals need a lightweight, privacy-preserving tool that measures attention in real time — running entirely on-device, with no cloud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426464" cy="12344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47672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Camera
(CSI / USB)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011680"/>
            <a:ext cx="219456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56816" y="1417320"/>
            <a:ext cx="1426464" cy="1234440"/>
          </a:xfrm>
          <a:prstGeom prst="rect">
            <a:avLst/>
          </a:prstGeom>
          <a:solidFill>
            <a:srgbClr val="1C7293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56816" y="1508760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RPi5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1947672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Raspberry Pi 5
(Orchestrator)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11680"/>
            <a:ext cx="219456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9312" y="1417320"/>
            <a:ext cx="1426464" cy="1234440"/>
          </a:xfrm>
          <a:prstGeom prst="rect">
            <a:avLst/>
          </a:prstGeom>
          <a:solidFill>
            <a:srgbClr val="02C39A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508760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47672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Coral TPU
(Inference Accel.)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2011680"/>
            <a:ext cx="219456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1808" y="1417320"/>
            <a:ext cx="1426464" cy="123444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1508760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1947672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MediaPipe
(478 Landmarks)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011680"/>
            <a:ext cx="219456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4304" y="1417320"/>
            <a:ext cx="1426464" cy="12344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508760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1947672"/>
            <a:ext cx="14264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Dashboard
+ CSV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Calibri"/>
              </a:rPr>
              <a:t>Software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40"/>
            <a:ext cx="15544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Python 3.11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272" y="3291840"/>
            <a:ext cx="15544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6272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OpenCV 4.x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5344" y="3291840"/>
            <a:ext cx="15544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5344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MediaPipe Tasks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14416" y="3291840"/>
            <a:ext cx="15544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4416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NumPy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291840"/>
            <a:ext cx="15544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PyCoral (TPU)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E0EF"/>
                </a:solidFill>
                <a:latin typeface="Calibri"/>
              </a:rPr>
              <a:t>Fully offline  ·  No cloud  ·  &lt; 100 ms latency  ·  ~$120 total hardware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10058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033272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4241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Frame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801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Camera grabs frames at 30 fps via FrameCapture. BGR frames are forwarded to the detector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508760"/>
            <a:ext cx="457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" y="178308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9222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755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Landmark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2996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MediaPipe Face Landmarker localises 478 facial key-points in normalised [0,1] coordinates per frame.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258568"/>
            <a:ext cx="457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" y="2532888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4203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05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Metric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7977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Five metrics computed: EAR, Gaze Deviation, Head Yaw (solvePnP), Blink Rate, and MAR / Yawn detection.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008376"/>
            <a:ext cx="457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480" y="3282696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291839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2552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Concentration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2958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Weighted formula combines all metrics into a 0-10 score. Temporal smoothing reduces landmark noise.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758183"/>
            <a:ext cx="457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04164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Dashboard &amp;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7939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Live OpenCV overlay shows score, graphs &amp; alerts. Every 10 s the score is appended to a CSV log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82296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005839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896112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896112"/>
            <a:ext cx="1828799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89611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896112"/>
            <a:ext cx="1737360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89611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Normal 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896112"/>
            <a:ext cx="1600199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896112"/>
            <a:ext cx="1554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896112"/>
            <a:ext cx="1554480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89611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16152"/>
            <a:ext cx="795527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1344168"/>
            <a:ext cx="8686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34416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1691640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6477"/>
                </a:solidFill>
                <a:latin typeface="Calibri"/>
              </a:rPr>
              <a:t>Eye Aspect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1307592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137"/>
                </a:solidFill>
                <a:latin typeface="Calibri"/>
              </a:rPr>
              <a:t>(|p2-p6|+|p3-p5|)/(2×|p1-p4|)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13807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0.15 – 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307592"/>
            <a:ext cx="1554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Drops to ~0 on blink; low sustained → drowsiness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1380744"/>
            <a:ext cx="640080" cy="256032"/>
          </a:xfrm>
          <a:prstGeom prst="rect">
            <a:avLst/>
          </a:prstGeom>
          <a:solidFill>
            <a:srgbClr val="E8F8F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13807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15%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874519"/>
            <a:ext cx="7955279" cy="621792"/>
          </a:xfrm>
          <a:prstGeom prst="rect">
            <a:avLst/>
          </a:prstGeom>
          <a:solidFill>
            <a:srgbClr val="F5F8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2002536"/>
            <a:ext cx="8686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00253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235000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6477"/>
                </a:solidFill>
                <a:latin typeface="Calibri"/>
              </a:rPr>
              <a:t>Gaze Deviation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965960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137"/>
                </a:solidFill>
                <a:latin typeface="Calibri"/>
              </a:rPr>
              <a:t>Iris centre in eye bbox → degrees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203911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&lt; ±30°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965960"/>
            <a:ext cx="1554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±8° dead-zone, degrades score to ±38°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8272" y="2039112"/>
            <a:ext cx="640080" cy="256032"/>
          </a:xfrm>
          <a:prstGeom prst="rect">
            <a:avLst/>
          </a:prstGeom>
          <a:solidFill>
            <a:srgbClr val="E8F8F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20391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45%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532888"/>
            <a:ext cx="795527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" y="2660904"/>
            <a:ext cx="868680" cy="347472"/>
          </a:xfrm>
          <a:prstGeom prst="rect">
            <a:avLst/>
          </a:prstGeom>
          <a:solidFill>
            <a:srgbClr val="027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66090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008376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6477"/>
                </a:solidFill>
                <a:latin typeface="Calibri"/>
              </a:rPr>
              <a:t>Head Yaw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262432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137"/>
                </a:solidFill>
                <a:latin typeface="Calibri"/>
              </a:rPr>
              <a:t>solvePnP (4 landmarks) → Euler yaw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39" y="26974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&lt; ±35°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624328"/>
            <a:ext cx="1554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±8° dead-zone; penalises sideways head rotation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8272" y="2697480"/>
            <a:ext cx="640080" cy="256032"/>
          </a:xfrm>
          <a:prstGeom prst="rect">
            <a:avLst/>
          </a:prstGeom>
          <a:solidFill>
            <a:srgbClr val="E8F8F5"/>
          </a:solidFill>
          <a:ln w="12700">
            <a:solidFill>
              <a:srgbClr val="027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26974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798A"/>
                </a:solidFill>
                <a:latin typeface="Calibri"/>
              </a:rPr>
              <a:t>30%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191256"/>
            <a:ext cx="7955279" cy="621792"/>
          </a:xfrm>
          <a:prstGeom prst="rect">
            <a:avLst/>
          </a:prstGeom>
          <a:solidFill>
            <a:srgbClr val="F5F8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" y="3319272"/>
            <a:ext cx="868680" cy="347472"/>
          </a:xfrm>
          <a:prstGeom prst="rect">
            <a:avLst/>
          </a:prstGeom>
          <a:solidFill>
            <a:srgbClr val="03A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3192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3666744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6477"/>
                </a:solidFill>
                <a:latin typeface="Calibri"/>
              </a:rPr>
              <a:t>Blink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82696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137"/>
                </a:solidFill>
                <a:latin typeface="Calibri"/>
              </a:rPr>
              <a:t>EAR threshold crossings / window × 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39" y="33558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4 – 25/min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3282696"/>
            <a:ext cx="1554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Calibrated to tolerate deep-focus low blink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8272" y="3355848"/>
            <a:ext cx="640080" cy="256032"/>
          </a:xfrm>
          <a:prstGeom prst="rect">
            <a:avLst/>
          </a:prstGeom>
          <a:solidFill>
            <a:srgbClr val="E8F8F5"/>
          </a:solidFill>
          <a:ln w="12700">
            <a:solidFill>
              <a:srgbClr val="03A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33558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A9C2"/>
                </a:solidFill>
                <a:latin typeface="Calibri"/>
              </a:rP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849624"/>
            <a:ext cx="795527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" y="3977639"/>
            <a:ext cx="8686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977639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4325112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A6477"/>
                </a:solidFill>
                <a:latin typeface="Calibri"/>
              </a:rPr>
              <a:t>Yawn Detection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3941063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137"/>
                </a:solidFill>
                <a:latin typeface="Calibri"/>
              </a:rPr>
              <a:t>MAR &gt; 0.72 for ≥75% of last 3 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39" y="4014215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Not detected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3941063"/>
            <a:ext cx="1554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Applies –2.5 penalty to final score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48272" y="4014215"/>
            <a:ext cx="640080" cy="256032"/>
          </a:xfrm>
          <a:prstGeom prst="rect">
            <a:avLst/>
          </a:prstGeom>
          <a:solidFill>
            <a:srgbClr val="E8F8F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48272" y="40142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−2.5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Concentration Score  (0 – 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0392"/>
            <a:ext cx="8229600" cy="1005840"/>
          </a:xfrm>
          <a:prstGeom prst="rect">
            <a:avLst/>
          </a:prstGeom>
          <a:solidFill>
            <a:srgbClr val="0D2137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Score = ( 0.15 × eye_score  +  0.45 × gaze_score  +  0.30 × head_score  +  0.10 × blink_score ) × 10  −  yawn_penalty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E0EF"/>
                </a:solidFill>
                <a:latin typeface="Calibri"/>
              </a:rPr>
              <a:t>Each sub-score is normalised to [0, 1] with a dead-zone + linear ramp.  Yawn penalty = 2.5 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2651760" cy="1353312"/>
          </a:xfrm>
          <a:prstGeom prst="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26517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 – 3.9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Low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Alert triggered, recommend break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2" y="2029968"/>
            <a:ext cx="2651760" cy="1353312"/>
          </a:xfrm>
          <a:prstGeom prst="rect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2029968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130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4.0 – 6.9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5328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83464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Acceptable, minor distractions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2029968"/>
            <a:ext cx="2651760" cy="1353312"/>
          </a:xfrm>
          <a:prstGeom prst="rect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2029968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130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7.0 –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5328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 Concentration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83464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Deep focus — optimal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  <a:latin typeface="Calibri"/>
              </a:rPr>
              <a:t>Temporal smoothing: gaze &amp; yaw averaged over 15 frames (~0.5 s) to reduce landmark jitter.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950208"/>
          <a:ext cx="8229600" cy="868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137"/>
                </a:solidFill>
                <a:latin typeface="Calibri"/>
              </a:rPr>
              <a:t>Real Session Data  —  April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210312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914400"/>
          <a:ext cx="53035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806440" y="932688"/>
            <a:ext cx="2944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9692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Average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430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7.45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444752"/>
            <a:ext cx="2944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813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Peak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550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9.00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956816"/>
            <a:ext cx="2944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993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Lowest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67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6.49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468880"/>
            <a:ext cx="2944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5054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Sample 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791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10 × 10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980944"/>
            <a:ext cx="2944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017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477"/>
                </a:solidFill>
                <a:latin typeface="Calibri"/>
              </a:rPr>
              <a:t>Optimal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1912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5 / 10 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6477"/>
                </a:solidFill>
                <a:latin typeface="Calibri"/>
              </a:rPr>
              <a:t>* Blink rate = 0 in log indicates windows were shorter than a full blink cycle at 30 fps.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87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5E"/>
                </a:solidFill>
                <a:latin typeface="Calibri"/>
              </a:rPr>
              <a:t>System logged "Optimal Concentration" across 5 of 10 windows — consistent with scores of 8–9.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Live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96012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96112"/>
            <a:ext cx="5486400" cy="3474720"/>
          </a:xfrm>
          <a:prstGeom prst="rect">
            <a:avLst/>
          </a:prstGeom>
          <a:solidFill>
            <a:srgbClr val="0D1B2A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OpenCV Window — Concentration Monitor (live preview)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234440"/>
            <a:ext cx="1737360" cy="2103120"/>
          </a:xfrm>
          <a:prstGeom prst="ellipse">
            <a:avLst/>
          </a:prstGeom>
          <a:solidFill>
            <a:srgbClr val="1C2E40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  <a:latin typeface="Calibri"/>
              </a:rPr>
              <a:t>[ Face
Landmarks
478 pts ]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1481328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1389888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94560" y="1481328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89888" y="2029968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2029968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8800" y="260604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306324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03120" y="306324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8800" y="164592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45920" y="233172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11680" y="2331720"/>
            <a:ext cx="64008" cy="640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13350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477"/>
                </a:solidFill>
                <a:latin typeface="Calibri"/>
              </a:rPr>
              <a:t>Score: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133502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8.5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17373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477"/>
                </a:solidFill>
                <a:latin typeface="Calibri"/>
              </a:rPr>
              <a:t>EAR: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17373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Calibri"/>
              </a:rPr>
              <a:t>0.28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21396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477"/>
                </a:solidFill>
                <a:latin typeface="Calibri"/>
              </a:rPr>
              <a:t>Gaze: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13969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Calibri"/>
              </a:rPr>
              <a:t>+3.2°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5420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477"/>
                </a:solidFill>
                <a:latin typeface="Calibri"/>
              </a:rPr>
              <a:t>Yaw: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5420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Calibri"/>
              </a:rPr>
              <a:t>−1.1°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9443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477"/>
                </a:solidFill>
                <a:latin typeface="Calibri"/>
              </a:rPr>
              <a:t>Blinks: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944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Calibri"/>
              </a:rPr>
              <a:t>14/min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10712"/>
            <a:ext cx="2651760" cy="658368"/>
          </a:xfrm>
          <a:prstGeom prst="rect">
            <a:avLst/>
          </a:prstGeom>
          <a:solidFill>
            <a:srgbClr val="1C2E40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C39A"/>
                </a:solidFill>
                <a:latin typeface="Calibri"/>
              </a:rPr>
              <a:t>_ - ^ - _ ^ - ^ - _   Score history (5 min rolling)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Dashboard Features</a:t>
            </a:r>
          </a:p>
        </p:txBody>
      </p:sp>
      <p:sp>
        <p:nvSpPr>
          <p:cNvPr id="35" name="Oval 34"/>
          <p:cNvSpPr/>
          <p:nvPr/>
        </p:nvSpPr>
        <p:spPr>
          <a:xfrm>
            <a:off x="5943600" y="1399032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13350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Real-time landmark overlay on live video</a:t>
            </a:r>
          </a:p>
        </p:txBody>
      </p:sp>
      <p:sp>
        <p:nvSpPr>
          <p:cNvPr id="37" name="Oval 36"/>
          <p:cNvSpPr/>
          <p:nvPr/>
        </p:nvSpPr>
        <p:spPr>
          <a:xfrm>
            <a:off x="5943600" y="1783080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17190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Score &amp; sub-metrics shown as HUD</a:t>
            </a:r>
          </a:p>
        </p:txBody>
      </p:sp>
      <p:sp>
        <p:nvSpPr>
          <p:cNvPr id="39" name="Oval 38"/>
          <p:cNvSpPr/>
          <p:nvPr/>
        </p:nvSpPr>
        <p:spPr>
          <a:xfrm>
            <a:off x="5943600" y="2167127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2103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5-minute rolling score graph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0" y="2551175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2487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Colour-coded alerts (green/orange/red)</a:t>
            </a:r>
          </a:p>
        </p:txBody>
      </p:sp>
      <p:sp>
        <p:nvSpPr>
          <p:cNvPr id="43" name="Oval 42"/>
          <p:cNvSpPr/>
          <p:nvPr/>
        </p:nvSpPr>
        <p:spPr>
          <a:xfrm>
            <a:off x="5943600" y="2935223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2871215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FPS counter in top-right corner</a:t>
            </a:r>
          </a:p>
        </p:txBody>
      </p:sp>
      <p:sp>
        <p:nvSpPr>
          <p:cNvPr id="45" name="Oval 44"/>
          <p:cNvSpPr/>
          <p:nvPr/>
        </p:nvSpPr>
        <p:spPr>
          <a:xfrm>
            <a:off x="5943600" y="3319272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2552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Press 'q' to exit cleanly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46227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6477"/>
                </a:solidFill>
                <a:latin typeface="Calibri"/>
              </a:rPr>
              <a:t>The dashboard runs locally — no browser, no server, no cloud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Offline Log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128016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7840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CSV columns:   timestamp  ·  score  ·  ear  ·  gaze_dev  ·  head_yaw  ·  blink_rate  ·  recommendation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40690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7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[STATS]  Score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Min / Max / Avg score; distribution across Low / Medium / High bands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554480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554480"/>
            <a:ext cx="40690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64207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[TIME]  Session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7510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Automatically computed from timestamps, assuming 10 s logging interval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40690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815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[ALERT]  Low-Concentration Periods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9242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Lists every timestamp where score &lt; 4.0 — pinpoints exactly when attention dropped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971800"/>
            <a:ext cx="4069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971800"/>
            <a:ext cx="40690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0815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[TIPS]  Personalised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39242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6477"/>
                </a:solidFill>
                <a:latin typeface="Calibri"/>
              </a:rPr>
              <a:t>Blink fatigue, gaze deviation, posture alerts generated from aggregate metric averages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16552"/>
            <a:ext cx="841248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531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5E"/>
                </a:solidFill>
                <a:latin typeface="Calibri"/>
              </a:rPr>
              <a:t>Run:   python analyze_logs.py logs/session_YYYYMMDD_HHMM.csv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928616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0E0EF"/>
                </a:solidFill>
                <a:latin typeface="Calibri"/>
              </a:rPr>
              <a:t>Concentration Monitor  |  Real-Time AI Attention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libri"/>
              </a:rPr>
              <a:t>Roadmap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58952"/>
            <a:ext cx="155448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743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987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v1 — Done ✓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545336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478-point facial landmark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98424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EAR, Gaze, Yaw, Blink, Yawn metrics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2316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Real-time dashboard (OpenCV)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862072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CSV logging + offline report tool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300984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236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Coral TPU with CPU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960120"/>
            <a:ext cx="2743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987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v2 — Short Term</a:t>
            </a:r>
          </a:p>
        </p:txBody>
      </p:sp>
      <p:sp>
        <p:nvSpPr>
          <p:cNvPr id="23" name="Oval 22"/>
          <p:cNvSpPr/>
          <p:nvPr/>
        </p:nvSpPr>
        <p:spPr>
          <a:xfrm>
            <a:off x="3337560" y="1545336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Per-user calibration wizard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1984248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REST API / MQTT score stream</a:t>
            </a:r>
          </a:p>
        </p:txBody>
      </p:sp>
      <p:sp>
        <p:nvSpPr>
          <p:cNvPr id="27" name="Oval 26"/>
          <p:cNvSpPr/>
          <p:nvPr/>
        </p:nvSpPr>
        <p:spPr>
          <a:xfrm>
            <a:off x="3337560" y="2423160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Web dashboard (Flask + Chart.js)</a:t>
            </a:r>
          </a:p>
        </p:txBody>
      </p:sp>
      <p:sp>
        <p:nvSpPr>
          <p:cNvPr id="29" name="Oval 28"/>
          <p:cNvSpPr/>
          <p:nvPr/>
        </p:nvSpPr>
        <p:spPr>
          <a:xfrm>
            <a:off x="3337560" y="2862072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Raspberry Pi Camera Module 3</a:t>
            </a:r>
          </a:p>
        </p:txBody>
      </p:sp>
      <p:sp>
        <p:nvSpPr>
          <p:cNvPr id="31" name="Oval 30"/>
          <p:cNvSpPr/>
          <p:nvPr/>
        </p:nvSpPr>
        <p:spPr>
          <a:xfrm>
            <a:off x="3337560" y="3300984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3236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Docker container image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960120"/>
            <a:ext cx="2743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59" y="960120"/>
            <a:ext cx="27432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199" y="987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 — Long Term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1545336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Multi-person tracking (classroom)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1984248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Emotion &amp; stress estimation layer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2423160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Teacher / HR analytics dashboard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2862072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1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Mobile app companion (BLE)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3300984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1" y="3236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137"/>
                </a:solidFill>
                <a:latin typeface="Calibri"/>
              </a:rPr>
              <a:t>Open dataset for attention research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6477"/>
                </a:solidFill>
                <a:latin typeface="Calibri"/>
              </a:rPr>
              <a:t>The system is open-source and designed for easy extension by the community.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3474720" cy="13030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01568" y="3840480"/>
            <a:ext cx="109728" cy="13030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1792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2C39A"/>
                </a:solidFill>
                <a:latin typeface="Calibri"/>
              </a:rPr>
              <a:t>Concentration Monitor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572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  <a:latin typeface="Calibri"/>
              </a:rPr>
              <a:t>Real-Time AI Attention Tracking on Raspberry Pi 5 + Coral TPU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alibri"/>
              </a:rPr>
              <a:t>&gt;&gt;  Source:   /concentration-monitor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alibri"/>
              </a:rPr>
              <a:t>&gt;   Run:       python main.py [--no-tpu] [--fps 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alibri"/>
              </a:rPr>
              <a:t>&gt;   Analyse:  python analyze_logs.py logs/*.csv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2C39A"/>
                </a:solidFill>
                <a:latin typeface="Calibri"/>
              </a:rPr>
              <a:t>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